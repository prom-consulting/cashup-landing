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aoYIGP5wwaJxGNg+lDuLI1EjD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1554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CASHUP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2194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Как устроена система — схемы для стейкхолдеров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926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Клиент  →  Компания  →  Партнёр  →  OctōPAY  →  Лендинг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Главный поток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320040" y="640080"/>
            <a:ext cx="2468880" cy="1051560"/>
          </a:xfrm>
          <a:prstGeom prst="roundRect">
            <a:avLst>
              <a:gd fmla="val 6957" name="adj"/>
            </a:avLst>
          </a:prstGeom>
          <a:solidFill>
            <a:srgbClr val="141B2D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29768" y="731520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КЛИЕНТ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29768" y="1005840"/>
            <a:ext cx="224942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Подписка · Wallet · 100 000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2880360" y="1051560"/>
            <a:ext cx="32004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246120" y="640080"/>
            <a:ext cx="2651760" cy="1051560"/>
          </a:xfrm>
          <a:prstGeom prst="roundRect">
            <a:avLst>
              <a:gd fmla="val 6957" name="adj"/>
            </a:avLst>
          </a:prstGeom>
          <a:solidFill>
            <a:srgbClr val="141B2D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355848" y="731520"/>
            <a:ext cx="2432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КОМПАНИЯ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355848" y="10058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Платформа · </a:t>
            </a:r>
            <a:r>
              <a:rPr lang="en-US" sz="1100">
                <a:solidFill>
                  <a:srgbClr val="E2E8F0"/>
                </a:solidFill>
              </a:rPr>
              <a:t>н</a:t>
            </a: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аш OctōPAY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89320" y="1051560"/>
            <a:ext cx="32004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355080" y="640080"/>
            <a:ext cx="2468880" cy="1051560"/>
          </a:xfrm>
          <a:prstGeom prst="roundRect">
            <a:avLst>
              <a:gd fmla="val 6957" name="adj"/>
            </a:avLst>
          </a:prstGeom>
          <a:solidFill>
            <a:srgbClr val="141B2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464808" y="731520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ПАРТНЁР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64808" y="1005840"/>
            <a:ext cx="2249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% бонусов · приём оплаты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462272" y="178308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560320" y="2103120"/>
            <a:ext cx="4023360" cy="640080"/>
          </a:xfrm>
          <a:prstGeom prst="roundRect">
            <a:avLst>
              <a:gd fmla="val 11429" name="adj"/>
            </a:avLst>
          </a:prstGeom>
          <a:solidFill>
            <a:srgbClr val="1A2338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697480" y="22402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Все подписки → один OctōPAY оператора (деньги </a:t>
            </a:r>
            <a:r>
              <a:rPr b="1" lang="en-US" sz="1200">
                <a:solidFill>
                  <a:srgbClr val="10B981"/>
                </a:solidFill>
              </a:rPr>
              <a:t>нам</a:t>
            </a: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462272" y="283464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20040" y="3200400"/>
            <a:ext cx="2651760" cy="1234440"/>
          </a:xfrm>
          <a:prstGeom prst="roundRect">
            <a:avLst>
              <a:gd fmla="val 5926" name="adj"/>
            </a:avLst>
          </a:prstGeom>
          <a:solidFill>
            <a:srgbClr val="141B2D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29768" y="3291840"/>
            <a:ext cx="2432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Карта CashUp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29768" y="3566160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Apple / Google Wallet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Баланс бонусов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46120" y="3200400"/>
            <a:ext cx="2651760" cy="1234440"/>
          </a:xfrm>
          <a:prstGeom prst="roundRect">
            <a:avLst>
              <a:gd fmla="val 5926" name="adj"/>
            </a:avLst>
          </a:prstGeom>
          <a:solidFill>
            <a:srgbClr val="141B2D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355848" y="3291840"/>
            <a:ext cx="2432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Кабинеты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355848" y="3566160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Клиент и партнёр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Продлевают подписку сами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172200" y="3200400"/>
            <a:ext cx="2651760" cy="1234440"/>
          </a:xfrm>
          <a:prstGeom prst="roundRect">
            <a:avLst>
              <a:gd fmla="val 5926" name="adj"/>
            </a:avLst>
          </a:prstGeom>
          <a:solidFill>
            <a:srgbClr val="141B2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281928" y="3291840"/>
            <a:ext cx="2432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Лендинг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281928" y="3566160"/>
            <a:ext cx="24323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Каталог партнёров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% и метка OctōPAY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60" y="484632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CashUp  ·  схема для стейкхолдеров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863840" y="484632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2/8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Клиент: цикл денег и бонусов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20040" y="640080"/>
            <a:ext cx="2011680" cy="1554480"/>
          </a:xfrm>
          <a:prstGeom prst="roundRect">
            <a:avLst>
              <a:gd fmla="val 4706" name="adj"/>
            </a:avLst>
          </a:prstGeom>
          <a:solidFill>
            <a:srgbClr val="141B2D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11480" y="7772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Оплата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подписки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11480" y="14173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5–10$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E2E8F0"/>
                </a:solidFill>
              </a:rPr>
              <a:t>Н</a:t>
            </a: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аш OctōPAY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331720" y="1280160"/>
            <a:ext cx="32004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2560320" y="640080"/>
            <a:ext cx="2011680" cy="1554480"/>
          </a:xfrm>
          <a:prstGeom prst="roundRect">
            <a:avLst>
              <a:gd fmla="val 4706" name="adj"/>
            </a:avLst>
          </a:prstGeom>
          <a:solidFill>
            <a:srgbClr val="141B2D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651760" y="7772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Старт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месяца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651760" y="14173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Баланс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= 100 000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0" y="1280160"/>
            <a:ext cx="32004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800600" y="640080"/>
            <a:ext cx="2011680" cy="1554480"/>
          </a:xfrm>
          <a:prstGeom prst="roundRect">
            <a:avLst>
              <a:gd fmla="val 4706" name="adj"/>
            </a:avLst>
          </a:prstGeom>
          <a:solidFill>
            <a:srgbClr val="141B2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892040" y="7772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Траты 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партнёров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892040" y="14173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В пределах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их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812280" y="1280160"/>
            <a:ext cx="32004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040880" y="640080"/>
            <a:ext cx="2011680" cy="1554480"/>
          </a:xfrm>
          <a:prstGeom prst="roundRect">
            <a:avLst>
              <a:gd fmla="val 4706" name="adj"/>
            </a:avLst>
          </a:prstGeom>
          <a:solidFill>
            <a:srgbClr val="141B2D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132320" y="77724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Конец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периода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132320" y="14173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Продлил 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не продлил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359152" y="228600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839712" y="228600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57200" y="2651760"/>
            <a:ext cx="3840480" cy="1737360"/>
          </a:xfrm>
          <a:prstGeom prst="roundRect">
            <a:avLst>
              <a:gd fmla="val 4211" name="adj"/>
            </a:avLst>
          </a:prstGeom>
          <a:solidFill>
            <a:srgbClr val="141B2D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40080" y="28346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ПРОДЛИЛ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40080" y="324612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С 1-го дня нового месяца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баланс снова = 100 000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(доначислили потраченное)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846320" y="2651760"/>
            <a:ext cx="3931920" cy="1737360"/>
          </a:xfrm>
          <a:prstGeom prst="roundRect">
            <a:avLst>
              <a:gd fmla="val 4211" name="adj"/>
            </a:avLst>
          </a:prstGeom>
          <a:solidFill>
            <a:srgbClr val="141B2D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029200" y="28346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НЕ ПРОДЛИЛ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029200" y="324612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Все бонусы сгорают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Траты недоступны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до новой оплаты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484632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CashUp  ·  схема для стейкхолдеров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863840" y="484632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3/8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Кто кому платит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65760" y="5943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ПОДПИСКИ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65760" y="960120"/>
            <a:ext cx="1737360" cy="777240"/>
          </a:xfrm>
          <a:prstGeom prst="roundRect">
            <a:avLst>
              <a:gd fmla="val 9412" name="adj"/>
            </a:avLst>
          </a:prstGeom>
          <a:solidFill>
            <a:srgbClr val="141B2D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75488" y="1051560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Клиент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75488" y="1325880"/>
            <a:ext cx="1517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5–10$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65760" y="1965960"/>
            <a:ext cx="1737360" cy="777240"/>
          </a:xfrm>
          <a:prstGeom prst="roundRect">
            <a:avLst>
              <a:gd fmla="val 9412" name="adj"/>
            </a:avLst>
          </a:prstGeom>
          <a:solidFill>
            <a:srgbClr val="141B2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75488" y="2057400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Партнёр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(лояльность)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75488" y="2331720"/>
            <a:ext cx="1517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30–50$/мес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2286000" y="1554480"/>
            <a:ext cx="1188720" cy="4114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240280" y="205740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ваш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OctōPAY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657600" y="1280160"/>
            <a:ext cx="2011680" cy="1280160"/>
          </a:xfrm>
          <a:prstGeom prst="roundRect">
            <a:avLst>
              <a:gd fmla="val 5714" name="adj"/>
            </a:avLst>
          </a:prstGeom>
          <a:solidFill>
            <a:srgbClr val="141B2D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767328" y="1371600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КОМПАНИЯ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767328" y="1645920"/>
            <a:ext cx="17922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Все деньги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с подписок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035040" y="594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ТОРГОВЛЯ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035040" y="960120"/>
            <a:ext cx="2651760" cy="822960"/>
          </a:xfrm>
          <a:prstGeom prst="roundRect">
            <a:avLst>
              <a:gd fmla="val 8889" name="adj"/>
            </a:avLst>
          </a:prstGeom>
          <a:solidFill>
            <a:srgbClr val="141B2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6144768" y="1051560"/>
            <a:ext cx="2432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Клиент → Партнёр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144768" y="132588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Оплата покупки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251192" y="187452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035040" y="219456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141B2D"/>
          </a:solidFill>
          <a:ln cap="flat" cmpd="sng" w="1905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144768" y="2286000"/>
            <a:ext cx="2432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Счёт партнёра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144768" y="2560320"/>
            <a:ext cx="24323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Комиссия OctōPAY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с оборота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65760" y="3383280"/>
            <a:ext cx="8412480" cy="1051560"/>
          </a:xfrm>
          <a:prstGeom prst="roundRect">
            <a:avLst>
              <a:gd fmla="val 6957" name="adj"/>
            </a:avLst>
          </a:prstGeom>
          <a:solidFill>
            <a:srgbClr val="1A23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48640" y="356616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Важно: подписки клиентов и партнёров всегда идут на один аккаунт OctōPAY компании.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Торговые платежи у партнёра — отдельно, на его эквайринг. Лояльность цепляется к событию оплаты.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484632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CashUp  ·  схема для стейкхолдеров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863840" y="484632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4/8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Партнёр выбирает модель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200400" y="548640"/>
            <a:ext cx="2743200" cy="640080"/>
          </a:xfrm>
          <a:prstGeom prst="roundRect">
            <a:avLst>
              <a:gd fmla="val 11429" name="adj"/>
            </a:avLst>
          </a:prstGeom>
          <a:solidFill>
            <a:srgbClr val="141B2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310128" y="640080"/>
            <a:ext cx="25237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ПАРТНЁР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462272" y="128016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65760" y="1691640"/>
            <a:ext cx="2743200" cy="2651760"/>
          </a:xfrm>
          <a:prstGeom prst="roundRect">
            <a:avLst>
              <a:gd fmla="val 2759" name="adj"/>
            </a:avLst>
          </a:prstGeom>
          <a:solidFill>
            <a:srgbClr val="141B2D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502920" y="18745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Только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лояльность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265176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30–50$/мес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US" sz="1300">
                <a:solidFill>
                  <a:srgbClr val="E2E8F0"/>
                </a:solidFill>
              </a:rPr>
              <a:t>наш</a:t>
            </a: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OctōPAY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% в кабинете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QR списание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337560" y="1691640"/>
            <a:ext cx="2743200" cy="2651760"/>
          </a:xfrm>
          <a:prstGeom prst="roundRect">
            <a:avLst>
              <a:gd fmla="val 2759" name="adj"/>
            </a:avLst>
          </a:prstGeom>
          <a:solidFill>
            <a:srgbClr val="141B2D"/>
          </a:solidFill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474720" y="18745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Только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OctōPAY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520440" y="265176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Эквайринг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Без CashUp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Без бонусов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Комиссия 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309360" y="1691640"/>
            <a:ext cx="2743200" cy="2651760"/>
          </a:xfrm>
          <a:prstGeom prst="roundRect">
            <a:avLst>
              <a:gd fmla="val 2759" name="adj"/>
            </a:avLst>
          </a:prstGeom>
          <a:solidFill>
            <a:srgbClr val="141B2D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446520" y="187452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OctōPAY +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Лояльность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92240" y="2651760"/>
            <a:ext cx="2377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Без абонентки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Авто-бонусы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Метка на сайте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Доход с комиссий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65760" y="484632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CashUp  ·  схема для стейкхолдеров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863840" y="484632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5/8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Покупка: два пути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65760" y="5486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ПУТЬ A — только лояльность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914400"/>
            <a:ext cx="3657600" cy="502920"/>
          </a:xfrm>
          <a:prstGeom prst="roundRect">
            <a:avLst>
              <a:gd fmla="val 10909" name="adj"/>
            </a:avLst>
          </a:prstGeom>
          <a:solidFill>
            <a:srgbClr val="141B2D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594360" y="102412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1.  Клиент: QR карты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148840" y="1417320"/>
            <a:ext cx="182880" cy="137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57200" y="1554480"/>
            <a:ext cx="3657600" cy="502920"/>
          </a:xfrm>
          <a:prstGeom prst="roundRect">
            <a:avLst>
              <a:gd fmla="val 10909" name="adj"/>
            </a:avLst>
          </a:prstGeom>
          <a:solidFill>
            <a:srgbClr val="141B2D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94360" y="166420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2.  Партнёр: сумма + 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148840" y="2057400"/>
            <a:ext cx="182880" cy="137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57200" y="2194560"/>
            <a:ext cx="3657600" cy="502920"/>
          </a:xfrm>
          <a:prstGeom prst="roundRect">
            <a:avLst>
              <a:gd fmla="val 10909" name="adj"/>
            </a:avLst>
          </a:prstGeom>
          <a:solidFill>
            <a:srgbClr val="141B2D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94360" y="230428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3.  Списание бонусов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148840" y="2697480"/>
            <a:ext cx="182880" cy="137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57200" y="2834640"/>
            <a:ext cx="3657600" cy="502920"/>
          </a:xfrm>
          <a:prstGeom prst="roundRect">
            <a:avLst>
              <a:gd fmla="val 10909" name="adj"/>
            </a:avLst>
          </a:prstGeom>
          <a:solidFill>
            <a:srgbClr val="141B2D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94360" y="294436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4.  Доплата деньгами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148840" y="3337560"/>
            <a:ext cx="182880" cy="137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57200" y="3474720"/>
            <a:ext cx="3657600" cy="502920"/>
          </a:xfrm>
          <a:prstGeom prst="roundRect">
            <a:avLst>
              <a:gd fmla="val 10909" name="adj"/>
            </a:avLst>
          </a:prstGeom>
          <a:solidFill>
            <a:srgbClr val="141B2D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94360" y="35844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5.  Обновление Wallet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754880" y="5486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ПУТЬ B — OctōPAY + лояльность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846320" y="914400"/>
            <a:ext cx="3840480" cy="502920"/>
          </a:xfrm>
          <a:prstGeom prst="roundRect">
            <a:avLst>
              <a:gd fmla="val 10909" name="adj"/>
            </a:avLst>
          </a:prstGeom>
          <a:solidFill>
            <a:srgbClr val="141B2D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983480" y="102412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1.  Оплата через OctōPAY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629400" y="1417320"/>
            <a:ext cx="182880" cy="137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846320" y="1554480"/>
            <a:ext cx="3840480" cy="502920"/>
          </a:xfrm>
          <a:prstGeom prst="roundRect">
            <a:avLst>
              <a:gd fmla="val 10909" name="adj"/>
            </a:avLst>
          </a:prstGeom>
          <a:solidFill>
            <a:srgbClr val="141B2D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983480" y="166420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2.  Платёж успешен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629400" y="2057400"/>
            <a:ext cx="182880" cy="137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846320" y="2194560"/>
            <a:ext cx="3840480" cy="502920"/>
          </a:xfrm>
          <a:prstGeom prst="roundRect">
            <a:avLst>
              <a:gd fmla="val 10909" name="adj"/>
            </a:avLst>
          </a:prstGeom>
          <a:solidFill>
            <a:srgbClr val="141B2D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983480" y="230428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3.  Система находит карту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629400" y="2697480"/>
            <a:ext cx="182880" cy="137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846320" y="2834640"/>
            <a:ext cx="3840480" cy="502920"/>
          </a:xfrm>
          <a:prstGeom prst="roundRect">
            <a:avLst>
              <a:gd fmla="val 10909" name="adj"/>
            </a:avLst>
          </a:prstGeom>
          <a:solidFill>
            <a:srgbClr val="141B2D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983480" y="294436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4.  Авто списание / кэшбэк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629400" y="3337560"/>
            <a:ext cx="182880" cy="1371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4846320" y="3474720"/>
            <a:ext cx="3840480" cy="502920"/>
          </a:xfrm>
          <a:prstGeom prst="roundRect">
            <a:avLst>
              <a:gd fmla="val 10909" name="adj"/>
            </a:avLst>
          </a:prstGeom>
          <a:solidFill>
            <a:srgbClr val="141B2D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983480" y="358444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5.  Wallet обновился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65760" y="484632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CashUp  ·  схема для стейкхолдеров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863840" y="484632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6/8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365760" y="1645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Кто что делает в кабинете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20040" y="594360"/>
            <a:ext cx="2788920" cy="457200"/>
          </a:xfrm>
          <a:prstGeom prst="roundRect">
            <a:avLst>
              <a:gd fmla="val 12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20040" y="658368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КЛИЕНТ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20040" y="118872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29768" y="129844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Видит срок подписки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600200" y="169164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20040" y="182880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429768" y="19385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Видит баланс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600200" y="233172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320040" y="246888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29768" y="257860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Жмёт «Продлить»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600200" y="297180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320040" y="310896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29768" y="321868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Платит в ваш OctōPAY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600200" y="361188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320040" y="374904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29768" y="385876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Получает снова 100 000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291840" y="594360"/>
            <a:ext cx="2788920" cy="457200"/>
          </a:xfrm>
          <a:prstGeom prst="roundRect">
            <a:avLst>
              <a:gd fmla="val 12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3291840" y="658368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ПАРТНЁР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291840" y="118872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3401568" y="129844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Профиль на лендинг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572000" y="169164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291840" y="182880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401568" y="19385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Продлевает доступ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572000" y="233172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291840" y="246888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3401568" y="257860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Задаёт % на месяц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572000" y="297180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3291840" y="310896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3401568" y="321868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Смотрит операции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572000" y="361188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3291840" y="374904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3401568" y="385876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Доступы сотрудникам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263640" y="594360"/>
            <a:ext cx="2788920" cy="457200"/>
          </a:xfrm>
          <a:prstGeom prst="roundRect">
            <a:avLst>
              <a:gd fmla="val 12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6263640" y="658368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КОМПАНИЯ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263640" y="118872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6373368" y="129844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Все подписки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543800" y="169164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263640" y="182880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373368" y="19385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Поступления денег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543800" y="233172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263640" y="246888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373368" y="257860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Правило 100 000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543800" y="297180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263640" y="310896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373368" y="321868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Партнёры и статусы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7543800" y="3611880"/>
            <a:ext cx="164592" cy="1280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263640" y="3749040"/>
            <a:ext cx="2788920" cy="502920"/>
          </a:xfrm>
          <a:prstGeom prst="roundRect">
            <a:avLst>
              <a:gd fmla="val 9091" name="adj"/>
            </a:avLst>
          </a:prstGeom>
          <a:solidFill>
            <a:srgbClr val="14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6373368" y="385876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Лендинг и отчёты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65760" y="484632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CashUp  ·  схема для стейкхолдеров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7863840" y="484632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7/8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/>
          <p:nvPr/>
        </p:nvSpPr>
        <p:spPr>
          <a:xfrm>
            <a:off x="365760" y="137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Всё на одной схеме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274320" y="548640"/>
            <a:ext cx="1828800" cy="868680"/>
          </a:xfrm>
          <a:prstGeom prst="roundRect">
            <a:avLst>
              <a:gd fmla="val 8421" name="adj"/>
            </a:avLst>
          </a:prstGeom>
          <a:solidFill>
            <a:srgbClr val="141B2D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384048" y="640080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Клиент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84048" y="914400"/>
            <a:ext cx="1609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подписка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194560" y="868680"/>
            <a:ext cx="32004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2606040" y="548640"/>
            <a:ext cx="2103120" cy="868680"/>
          </a:xfrm>
          <a:prstGeom prst="roundRect">
            <a:avLst>
              <a:gd fmla="val 8421" name="adj"/>
            </a:avLst>
          </a:prstGeom>
          <a:solidFill>
            <a:srgbClr val="141B2D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2715768" y="640080"/>
            <a:ext cx="1883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Ваш OctōPAY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2715768" y="914400"/>
            <a:ext cx="18836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деньги </a:t>
            </a:r>
            <a:r>
              <a:rPr lang="en-US" sz="1100">
                <a:solidFill>
                  <a:srgbClr val="E2E8F0"/>
                </a:solidFill>
              </a:rPr>
              <a:t>н</a:t>
            </a: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ам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4800600" y="868680"/>
            <a:ext cx="32004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5212080" y="548640"/>
            <a:ext cx="1828800" cy="868680"/>
          </a:xfrm>
          <a:prstGeom prst="roundRect">
            <a:avLst>
              <a:gd fmla="val 8421" name="adj"/>
            </a:avLst>
          </a:prstGeom>
          <a:solidFill>
            <a:srgbClr val="141B2D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321808" y="640080"/>
            <a:ext cx="1609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Карта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321808" y="914400"/>
            <a:ext cx="16093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100 000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132320" y="868680"/>
            <a:ext cx="32004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7498080" y="548640"/>
            <a:ext cx="1371600" cy="868680"/>
          </a:xfrm>
          <a:prstGeom prst="roundRect">
            <a:avLst>
              <a:gd fmla="val 8421" name="adj"/>
            </a:avLst>
          </a:prstGeom>
          <a:solidFill>
            <a:srgbClr val="141B2D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7607808" y="640080"/>
            <a:ext cx="11521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Wallet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607808" y="914400"/>
            <a:ext cx="11521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iOS/Android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016752" y="150876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4846320" y="1874520"/>
            <a:ext cx="2560320" cy="685800"/>
          </a:xfrm>
          <a:prstGeom prst="roundRect">
            <a:avLst>
              <a:gd fmla="val 10667" name="adj"/>
            </a:avLst>
          </a:prstGeom>
          <a:solidFill>
            <a:srgbClr val="141B2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4956048" y="1965960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Траты у партнёров (их 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919472" y="265176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7114032" y="265176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3657600" y="3017520"/>
            <a:ext cx="2286000" cy="822960"/>
          </a:xfrm>
          <a:prstGeom prst="roundRect">
            <a:avLst>
              <a:gd fmla="val 8889" name="adj"/>
            </a:avLst>
          </a:prstGeom>
          <a:solidFill>
            <a:srgbClr val="141B2D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767328" y="3108960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QR вручную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767328" y="3383280"/>
            <a:ext cx="2066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только лояльность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217920" y="3017520"/>
            <a:ext cx="2468880" cy="822960"/>
          </a:xfrm>
          <a:prstGeom prst="roundRect">
            <a:avLst>
              <a:gd fmla="val 8889" name="adj"/>
            </a:avLst>
          </a:prstGeom>
          <a:solidFill>
            <a:srgbClr val="141B2D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327648" y="3108960"/>
            <a:ext cx="22494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Авто через OctōPAY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327648" y="3383280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пакет без абонентки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274320" y="201168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141B2D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384048" y="2103120"/>
            <a:ext cx="23408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Каждый месяц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84048" y="2377440"/>
            <a:ext cx="2340864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Продлил → снова 100 000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Не продлил → сгорание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Продление в кабинете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365760" y="4846320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CashUp  ·  схема для стейкхолдеров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863840" y="484632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8/8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2026-09-08T13:49:58Z</dcterms:created>
  <dc:creator>Prom.Consulting</dc:creator>
</cp:coreProperties>
</file>